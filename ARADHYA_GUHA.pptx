
<file path=[Content_Types].xml><?xml version="1.0" encoding="utf-8"?>
<Types xmlns="http://schemas.openxmlformats.org/package/2006/content-types">
  <Default Extension="jfif" ContentType="image/jpeg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7" r:id="rId4"/>
  </p:sldMasterIdLst>
  <p:notesMasterIdLst>
    <p:notesMasterId r:id="rId19"/>
  </p:notesMasterIdLst>
  <p:handoutMasterIdLst>
    <p:handoutMasterId r:id="rId20"/>
  </p:handoutMasterIdLst>
  <p:sldIdLst>
    <p:sldId id="338" r:id="rId5"/>
    <p:sldId id="327" r:id="rId6"/>
    <p:sldId id="315" r:id="rId7"/>
    <p:sldId id="329" r:id="rId8"/>
    <p:sldId id="302" r:id="rId9"/>
    <p:sldId id="339" r:id="rId10"/>
    <p:sldId id="340" r:id="rId11"/>
    <p:sldId id="344" r:id="rId12"/>
    <p:sldId id="345" r:id="rId13"/>
    <p:sldId id="346" r:id="rId14"/>
    <p:sldId id="341" r:id="rId15"/>
    <p:sldId id="342" r:id="rId16"/>
    <p:sldId id="343" r:id="rId17"/>
    <p:sldId id="304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408" userDrawn="1">
          <p15:clr>
            <a:srgbClr val="A4A3A4"/>
          </p15:clr>
        </p15:guide>
        <p15:guide id="3" orient="horz" pos="3912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419AE38-882F-1515-E21D-2DA2765CE3A3}" v="2" dt="2026-09-02T10:33:37.143"/>
    <p1510:client id="{BA573E70-4CE7-E3DA-403D-1D1B358A6CED}" v="45" dt="2026-09-02T10:11:53.372"/>
  </p1510:revLst>
</p1510:revInfo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85" autoAdjust="0"/>
    <p:restoredTop sz="95033" autoAdjust="0"/>
  </p:normalViewPr>
  <p:slideViewPr>
    <p:cSldViewPr snapToGrid="0">
      <p:cViewPr>
        <p:scale>
          <a:sx n="66" d="100"/>
          <a:sy n="66" d="100"/>
        </p:scale>
        <p:origin x="1234" y="413"/>
      </p:cViewPr>
      <p:guideLst>
        <p:guide orient="horz" pos="1968"/>
        <p:guide pos="408"/>
        <p:guide orient="horz" pos="3912"/>
        <p:guide pos="7272"/>
        <p:guide orient="horz" pos="1656"/>
      </p:guideLst>
    </p:cSldViewPr>
  </p:slideViewPr>
  <p:outlineViewPr>
    <p:cViewPr>
      <p:scale>
        <a:sx n="33" d="100"/>
        <a:sy n="33" d="100"/>
      </p:scale>
      <p:origin x="0" y="-488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0" d="100"/>
        <a:sy n="110" d="100"/>
      </p:scale>
      <p:origin x="0" y="-965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9/5/2026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US" noProof="0" smtClean="0"/>
              <a:t>9/5/2026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7912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02203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52846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669602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9/5/2026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745993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23909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965439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897335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9/5/2026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62061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9/5/2026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30451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10971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2256312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478255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2625061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561930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9/5/2026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920135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619384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091946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395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2548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416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4800" b="1">
                <a:solidFill>
                  <a:schemeClr val="tx1"/>
                </a:solidFill>
              </a:rPr>
              <a:t>Click to edit Master title style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8848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995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9/5/2026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2CD6B789-4B66-4BD0-9623-80E9542A65FE}"/>
              </a:ext>
            </a:extLst>
          </p:cNvPr>
          <p:cNvSpPr txBox="1">
            <a:spLocks/>
          </p:cNvSpPr>
          <p:nvPr userDrawn="1"/>
        </p:nvSpPr>
        <p:spPr>
          <a:xfrm>
            <a:off x="660396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7BD5F78-1C10-49D6-8616-C9F20406C112}" type="datetime1">
              <a:rPr lang="en-US" sz="1100" smtClean="0">
                <a:solidFill>
                  <a:schemeClr val="accent2"/>
                </a:solidFill>
              </a:rPr>
              <a:pPr/>
              <a:t>9/5/2026</a:t>
            </a:fld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29" name="Footer Placeholder 4">
            <a:extLst>
              <a:ext uri="{FF2B5EF4-FFF2-40B4-BE49-F238E27FC236}">
                <a16:creationId xmlns:a16="http://schemas.microsoft.com/office/drawing/2014/main" id="{A3BB5234-44A4-4506-BD19-5808475EBB7F}"/>
              </a:ext>
            </a:extLst>
          </p:cNvPr>
          <p:cNvSpPr txBox="1">
            <a:spLocks/>
          </p:cNvSpPr>
          <p:nvPr userDrawn="1"/>
        </p:nvSpPr>
        <p:spPr>
          <a:xfrm>
            <a:off x="1445526" y="6378906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b="1" dirty="0">
                <a:solidFill>
                  <a:schemeClr val="accent2"/>
                </a:solidFill>
              </a:rPr>
              <a:t>Annual Review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68D89618-7EE9-46BF-BEAC-45E6F98ACA1A}"/>
              </a:ext>
            </a:extLst>
          </p:cNvPr>
          <p:cNvSpPr txBox="1">
            <a:spLocks/>
          </p:cNvSpPr>
          <p:nvPr userDrawn="1"/>
        </p:nvSpPr>
        <p:spPr>
          <a:xfrm>
            <a:off x="8805338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18C1E5-FB55-42F5-BD6D-9CC153FCDBE6}" type="slidenum">
              <a:rPr lang="en-US" sz="1100" smtClean="0">
                <a:solidFill>
                  <a:schemeClr val="accent4"/>
                </a:solidFill>
              </a:rPr>
              <a:pPr algn="r"/>
              <a:t>‹#›</a:t>
            </a:fld>
            <a:endParaRPr lang="en-US" sz="11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4259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  <p:sldLayoutId id="2147483759" r:id="rId12"/>
    <p:sldLayoutId id="2147483760" r:id="rId13"/>
    <p:sldLayoutId id="2147483761" r:id="rId14"/>
    <p:sldLayoutId id="2147483762" r:id="rId15"/>
    <p:sldLayoutId id="2147483763" r:id="rId16"/>
    <p:sldLayoutId id="2147483764" r:id="rId17"/>
    <p:sldLayoutId id="2147483765" r:id="rId18"/>
    <p:sldLayoutId id="2147483766" r:id="rId19"/>
    <p:sldLayoutId id="2147483769" r:id="rId20"/>
    <p:sldLayoutId id="2147483690" r:id="rId2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f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radhyaGuha/Seasonal-Agriculture-Performance-Analysis.git" TargetMode="External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201737A-B873-4D1D-8A41-5ABF5184BC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6401" y="3714972"/>
            <a:ext cx="6228961" cy="861497"/>
          </a:xfrm>
        </p:spPr>
        <p:txBody>
          <a:bodyPr vert="horz" lIns="91440" tIns="45720" rIns="91440" bIns="45720" rtlCol="0" anchor="t">
            <a:normAutofit fontScale="85000" lnSpcReduction="10000"/>
          </a:bodyPr>
          <a:lstStyle/>
          <a:p>
            <a:pPr algn="just"/>
            <a:r>
              <a:rPr lang="en-US" b="0" dirty="0">
                <a:solidFill>
                  <a:schemeClr val="tx1"/>
                </a:solidFill>
              </a:rPr>
              <a:t>Aradhya Guha </a:t>
            </a:r>
            <a:endParaRPr lang="en-IN" b="0" dirty="0">
              <a:solidFill>
                <a:schemeClr val="tx1"/>
              </a:solidFill>
            </a:endParaRPr>
          </a:p>
          <a:p>
            <a:pPr algn="just"/>
            <a:r>
              <a:rPr lang="en-US" b="0" dirty="0">
                <a:solidFill>
                  <a:schemeClr val="tx1"/>
                </a:solidFill>
              </a:rPr>
              <a:t>Institute of Engineering &amp; Management, Salt Lake (Kolkata)</a:t>
            </a:r>
            <a:endParaRPr lang="en-IN" b="0" dirty="0">
              <a:solidFill>
                <a:schemeClr val="tx1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2056599-CDAA-4367-BEF8-31D6E3251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6401" y="2858746"/>
            <a:ext cx="8558942" cy="743448"/>
          </a:xfrm>
          <a:ln>
            <a:solidFill>
              <a:schemeClr val="accent1"/>
            </a:solidFill>
          </a:ln>
        </p:spPr>
        <p:txBody>
          <a:bodyPr>
            <a:normAutofit/>
          </a:bodyPr>
          <a:lstStyle/>
          <a:p>
            <a:r>
              <a:rPr lang="en-US" sz="3200" b="1" dirty="0"/>
              <a:t>Seasonal Agricultural Performance Analysis</a:t>
            </a:r>
            <a:endParaRPr lang="en-IN" sz="3200" b="1" dirty="0"/>
          </a:p>
        </p:txBody>
      </p:sp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824B8A32-9AB3-457E-82E1-C85D3203CE35}"/>
              </a:ext>
            </a:extLst>
          </p:cNvPr>
          <p:cNvSpPr txBox="1">
            <a:spLocks/>
          </p:cNvSpPr>
          <p:nvPr/>
        </p:nvSpPr>
        <p:spPr>
          <a:xfrm>
            <a:off x="6400800" y="2794001"/>
            <a:ext cx="3312160" cy="861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0DEFF0-8DEE-4B0B-9B30-675FE9E288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7F04107-8754-E47D-3375-529E689711FA}"/>
              </a:ext>
            </a:extLst>
          </p:cNvPr>
          <p:cNvSpPr txBox="1"/>
          <p:nvPr/>
        </p:nvSpPr>
        <p:spPr>
          <a:xfrm>
            <a:off x="526402" y="4703243"/>
            <a:ext cx="54433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AICTE STU ID : </a:t>
            </a:r>
            <a:r>
              <a:rPr lang="en-IN" dirty="0"/>
              <a:t>STU6a05f98b83df21778776459 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604013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  <p:bldP spid="15" grpId="0"/>
      <p:bldP spid="3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46E4DD1-270B-4C80-AFF0-EB26F132AF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14634" y="1746380"/>
            <a:ext cx="6949205" cy="4319687"/>
          </a:xfrm>
        </p:spPr>
        <p:txBody>
          <a:bodyPr vert="horz" lIns="91440" tIns="45720" rIns="91440" bIns="45720" rtlCol="0" anchor="t">
            <a:normAutofit fontScale="70000" lnSpcReduction="20000"/>
          </a:bodyPr>
          <a:lstStyle/>
          <a:p>
            <a:pPr>
              <a:lnSpc>
                <a:spcPct val="100000"/>
              </a:lnSpc>
            </a:pPr>
            <a:r>
              <a:rPr lang="en-IN" sz="2800" dirty="0"/>
              <a:t>Agricultural activities are </a:t>
            </a:r>
            <a:r>
              <a:rPr lang="en-IN" sz="2800" b="1" dirty="0"/>
              <a:t>influenced by</a:t>
            </a:r>
            <a:r>
              <a:rPr lang="en-IN" sz="2800" dirty="0"/>
              <a:t> seasonal variations in environmental conditions, farming practices, resource availability and market conditions. </a:t>
            </a:r>
          </a:p>
          <a:p>
            <a:pPr>
              <a:lnSpc>
                <a:spcPct val="100000"/>
              </a:lnSpc>
            </a:pPr>
            <a:r>
              <a:rPr lang="en-IN" sz="2800" dirty="0"/>
              <a:t>As a result, </a:t>
            </a:r>
            <a:r>
              <a:rPr lang="en-IN" sz="2800" b="1" dirty="0"/>
              <a:t>agricultural performance may differ</a:t>
            </a:r>
            <a:r>
              <a:rPr lang="en-IN" sz="2800" dirty="0"/>
              <a:t> from one season to another. </a:t>
            </a:r>
          </a:p>
          <a:p>
            <a:pPr>
              <a:lnSpc>
                <a:spcPct val="100000"/>
              </a:lnSpc>
            </a:pPr>
            <a:r>
              <a:rPr lang="en-IN" sz="2800" dirty="0"/>
              <a:t>However, </a:t>
            </a:r>
            <a:r>
              <a:rPr lang="en-IN" sz="2800" b="1" dirty="0"/>
              <a:t>raw agricultural data </a:t>
            </a:r>
            <a:r>
              <a:rPr lang="en-IN" sz="2800" dirty="0"/>
              <a:t>does not clearly explain how agricultural performance changes across seasons or what patterns can be observed in different seasonal conditions. </a:t>
            </a:r>
          </a:p>
          <a:p>
            <a:pPr>
              <a:lnSpc>
                <a:spcPct val="100000"/>
              </a:lnSpc>
            </a:pPr>
            <a:r>
              <a:rPr lang="en-IN" sz="2800" dirty="0"/>
              <a:t>The problem is </a:t>
            </a:r>
            <a:r>
              <a:rPr lang="en-IN" sz="2800" b="1" dirty="0"/>
              <a:t>to </a:t>
            </a:r>
            <a:r>
              <a:rPr lang="en-IN" sz="2800" b="1" dirty="0" err="1"/>
              <a:t>analyze</a:t>
            </a:r>
            <a:r>
              <a:rPr lang="en-IN" sz="2800" b="1" dirty="0"/>
              <a:t> the given agricultural dataset and investigate seasonal differences in agricultural performance by identifying meaningful patterns, trends, relationships and variations within the available data. 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77CC02B-F7C6-47A8-8C3E-C57C417D9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602" y="550417"/>
            <a:ext cx="6995604" cy="790111"/>
          </a:xfrm>
        </p:spPr>
        <p:txBody>
          <a:bodyPr>
            <a:normAutofit fontScale="90000"/>
          </a:bodyPr>
          <a:lstStyle/>
          <a:p>
            <a:r>
              <a:rPr lang="en-US" dirty="0"/>
              <a:t>PROBLEM  STATEMENT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FE02DE-D7B2-433D-BFE4-2F564022A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5684" y="2930834"/>
            <a:ext cx="2760758" cy="32644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36DEFE3-051A-494A-949C-BB2FF86F9E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548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BF2FBC7-3552-4F01-BB27-8BEEE74F7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805213"/>
            <a:ext cx="6276109" cy="830997"/>
          </a:xfrm>
        </p:spPr>
        <p:txBody>
          <a:bodyPr>
            <a:normAutofit fontScale="90000"/>
          </a:bodyPr>
          <a:lstStyle/>
          <a:p>
            <a:r>
              <a:rPr lang="en-GB" dirty="0"/>
              <a:t>Project Description</a:t>
            </a:r>
            <a:br>
              <a:rPr lang="en-GB" dirty="0"/>
            </a:br>
            <a:br>
              <a:rPr lang="en-GB" dirty="0"/>
            </a:b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D8A2BA-6C1D-4A33-85F2-E44A4FF54A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676D2DC-8F78-E985-6C24-322C5F5202FF}"/>
              </a:ext>
            </a:extLst>
          </p:cNvPr>
          <p:cNvSpPr txBox="1"/>
          <p:nvPr/>
        </p:nvSpPr>
        <p:spPr>
          <a:xfrm>
            <a:off x="573030" y="2413337"/>
            <a:ext cx="552297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The project explores how crop performance, environmental conditions, resource usage and profitability change across seasons.</a:t>
            </a:r>
          </a:p>
          <a:p>
            <a:endParaRPr lang="en-US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The analysis combines exploratory data analysis, visualization, correlation analysis and statistical testing to identify meaningful patterns.</a:t>
            </a:r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93B16AC-99D0-2D62-8F3B-8F7FBDA99147}"/>
              </a:ext>
            </a:extLst>
          </p:cNvPr>
          <p:cNvSpPr/>
          <p:nvPr/>
        </p:nvSpPr>
        <p:spPr>
          <a:xfrm>
            <a:off x="8198500" y="1612841"/>
            <a:ext cx="2500604" cy="58782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Data Cleaning</a:t>
            </a:r>
            <a:endParaRPr lang="en-IN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BF6B363-2077-D058-EEB9-EAEF1BA3AD4B}"/>
              </a:ext>
            </a:extLst>
          </p:cNvPr>
          <p:cNvSpPr/>
          <p:nvPr/>
        </p:nvSpPr>
        <p:spPr>
          <a:xfrm>
            <a:off x="8198500" y="725515"/>
            <a:ext cx="2500604" cy="58782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Raw Dataset</a:t>
            </a:r>
            <a:endParaRPr lang="en-IN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4C7D008-1FA9-60DC-61EA-3D861C0C5256}"/>
              </a:ext>
            </a:extLst>
          </p:cNvPr>
          <p:cNvSpPr/>
          <p:nvPr/>
        </p:nvSpPr>
        <p:spPr>
          <a:xfrm>
            <a:off x="8214050" y="2522578"/>
            <a:ext cx="2500604" cy="58782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Exploratory Analysis</a:t>
            </a:r>
            <a:endParaRPr lang="en-IN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EC1C8E0-040C-425B-C284-6B16F6C62745}"/>
              </a:ext>
            </a:extLst>
          </p:cNvPr>
          <p:cNvSpPr/>
          <p:nvPr/>
        </p:nvSpPr>
        <p:spPr>
          <a:xfrm>
            <a:off x="8214050" y="3519198"/>
            <a:ext cx="2500604" cy="58782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Seasonal Comparison</a:t>
            </a:r>
            <a:endParaRPr lang="en-IN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8E47787-54F2-7D8F-873D-AD642617DA1A}"/>
              </a:ext>
            </a:extLst>
          </p:cNvPr>
          <p:cNvSpPr/>
          <p:nvPr/>
        </p:nvSpPr>
        <p:spPr>
          <a:xfrm>
            <a:off x="8214050" y="4486857"/>
            <a:ext cx="2500604" cy="58782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Correlation &amp; Statistical Testing</a:t>
            </a:r>
            <a:endParaRPr lang="en-IN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8165D28-6422-5E32-1D5B-4A3BDAB55372}"/>
              </a:ext>
            </a:extLst>
          </p:cNvPr>
          <p:cNvSpPr/>
          <p:nvPr/>
        </p:nvSpPr>
        <p:spPr>
          <a:xfrm>
            <a:off x="8198500" y="5396594"/>
            <a:ext cx="2500604" cy="58782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Insight &amp; Recommendations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96770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2" grpId="0"/>
      <p:bldP spid="4" grpId="0" animBg="1"/>
      <p:bldP spid="8" grpId="0" animBg="1"/>
      <p:bldP spid="10" grpId="0" animBg="1"/>
      <p:bldP spid="12" grpId="0" animBg="1"/>
      <p:bldP spid="14" grpId="0" animBg="1"/>
      <p:bldP spid="1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64E3B60-2780-459A-8583-F095D5E746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21359" y="1991360"/>
            <a:ext cx="7904481" cy="3990023"/>
          </a:xfrm>
        </p:spPr>
        <p:txBody>
          <a:bodyPr>
            <a:normAutofit/>
          </a:bodyPr>
          <a:lstStyle/>
          <a:p>
            <a:pPr algn="just"/>
            <a:r>
              <a:rPr lang="en-US" sz="2400" b="1" dirty="0"/>
              <a:t>Farmers/ Farm Managers</a:t>
            </a:r>
            <a:endParaRPr lang="en-US" dirty="0"/>
          </a:p>
          <a:p>
            <a:pPr marL="0" indent="0" algn="just">
              <a:buNone/>
            </a:pPr>
            <a:r>
              <a:rPr lang="en-US" sz="1600" dirty="0"/>
              <a:t> Understand seasonal yields, resource and profitability patterns.</a:t>
            </a:r>
          </a:p>
          <a:p>
            <a:pPr algn="just"/>
            <a:r>
              <a:rPr lang="en-US" sz="2400" b="1" dirty="0"/>
              <a:t>Agricultural 	Planners</a:t>
            </a:r>
          </a:p>
          <a:p>
            <a:pPr marL="0" indent="0" algn="just">
              <a:buNone/>
            </a:pPr>
            <a:r>
              <a:rPr lang="en-US" sz="1800" dirty="0"/>
              <a:t>Support seasonal planning using historical observations.</a:t>
            </a:r>
          </a:p>
          <a:p>
            <a:pPr algn="just"/>
            <a:r>
              <a:rPr lang="en-US" sz="2400" b="1" dirty="0"/>
              <a:t>Agricultural Analysts</a:t>
            </a:r>
          </a:p>
          <a:p>
            <a:pPr marL="0" indent="0" algn="just">
              <a:buNone/>
            </a:pPr>
            <a:r>
              <a:rPr lang="en-US" sz="1800" dirty="0"/>
              <a:t>Explore relationships between environmental and agricultural variables</a:t>
            </a:r>
          </a:p>
          <a:p>
            <a:pPr algn="just"/>
            <a:r>
              <a:rPr lang="en-US" sz="2400" b="1" dirty="0"/>
              <a:t>Agricultural Organizations</a:t>
            </a:r>
          </a:p>
          <a:p>
            <a:pPr marL="0" indent="0" algn="just">
              <a:buNone/>
            </a:pPr>
            <a:r>
              <a:rPr lang="en-US" sz="1800" dirty="0"/>
              <a:t>Identify trends and areas requiring further investigation.</a:t>
            </a:r>
          </a:p>
          <a:p>
            <a:pPr marL="0" indent="0" algn="just">
              <a:buNone/>
            </a:pPr>
            <a:endParaRPr lang="en-US" sz="1800" dirty="0"/>
          </a:p>
          <a:p>
            <a:pPr algn="just"/>
            <a:endParaRPr lang="en-IN" sz="24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A4A072B-83C6-4607-AE6A-5AD61CC72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1359" y="876617"/>
            <a:ext cx="10046070" cy="802641"/>
          </a:xfrm>
        </p:spPr>
        <p:txBody>
          <a:bodyPr>
            <a:normAutofit/>
          </a:bodyPr>
          <a:lstStyle/>
          <a:p>
            <a:r>
              <a:rPr lang="en-US" sz="3200" dirty="0"/>
              <a:t>WHO ARE THE END USERS?</a:t>
            </a:r>
            <a:endParaRPr lang="en-IN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B153BB-61B9-403F-8AE5-F75400450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359" y="6176804"/>
            <a:ext cx="2181225" cy="48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75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B7C27C4-3E14-490A-B132-CBBEDA1E9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1FC3E39-8C60-4F64-9838-2A683F25B8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50800" y="3820160"/>
            <a:ext cx="1727200" cy="3010024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21C28F5-3CA3-4B78-B5C9-550C00BB317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14400" y="1474327"/>
            <a:ext cx="9027702" cy="4492379"/>
          </a:xfrm>
        </p:spPr>
        <p:txBody>
          <a:bodyPr>
            <a:normAutofit/>
          </a:bodyPr>
          <a:lstStyle/>
          <a:p>
            <a:pPr lvl="1">
              <a:lnSpc>
                <a:spcPct val="150000"/>
              </a:lnSpc>
            </a:pPr>
            <a:r>
              <a:rPr lang="en-US" sz="2400" b="1" dirty="0"/>
              <a:t>Programming – </a:t>
            </a:r>
            <a:r>
              <a:rPr lang="en-US" sz="2400" dirty="0"/>
              <a:t>Python</a:t>
            </a:r>
          </a:p>
          <a:p>
            <a:pPr lvl="1">
              <a:lnSpc>
                <a:spcPct val="150000"/>
              </a:lnSpc>
            </a:pPr>
            <a:r>
              <a:rPr lang="en-US" sz="2400" b="1" dirty="0"/>
              <a:t>Data Analysis – </a:t>
            </a:r>
            <a:r>
              <a:rPr lang="en-US" sz="2400" dirty="0"/>
              <a:t>Pandas, </a:t>
            </a:r>
            <a:r>
              <a:rPr lang="en-US" sz="2400" dirty="0" err="1"/>
              <a:t>Numpy</a:t>
            </a:r>
            <a:endParaRPr lang="en-US" sz="2400" b="1" dirty="0"/>
          </a:p>
          <a:p>
            <a:pPr lvl="1">
              <a:lnSpc>
                <a:spcPct val="150000"/>
              </a:lnSpc>
            </a:pPr>
            <a:r>
              <a:rPr lang="en-US" sz="2400" b="1" dirty="0"/>
              <a:t>Visualization – </a:t>
            </a:r>
            <a:r>
              <a:rPr lang="en-US" sz="2400" dirty="0"/>
              <a:t>Matplotlib, Seaborn</a:t>
            </a:r>
          </a:p>
          <a:p>
            <a:pPr lvl="1">
              <a:lnSpc>
                <a:spcPct val="150000"/>
              </a:lnSpc>
            </a:pPr>
            <a:r>
              <a:rPr lang="en-US" sz="2400" b="1" dirty="0"/>
              <a:t>Statistical Analysis </a:t>
            </a:r>
            <a:r>
              <a:rPr lang="en-US" sz="2400" dirty="0"/>
              <a:t>– Spearman Correlation, Kruskal-Walls</a:t>
            </a:r>
          </a:p>
          <a:p>
            <a:pPr lvl="1">
              <a:lnSpc>
                <a:spcPct val="150000"/>
              </a:lnSpc>
            </a:pPr>
            <a:r>
              <a:rPr lang="en-IN" sz="2400" b="1" dirty="0"/>
              <a:t>Platform</a:t>
            </a:r>
            <a:r>
              <a:rPr lang="en-IN" sz="2400" dirty="0"/>
              <a:t> – Google </a:t>
            </a:r>
            <a:r>
              <a:rPr lang="en-IN" sz="2400" dirty="0" err="1"/>
              <a:t>Colab</a:t>
            </a:r>
            <a:r>
              <a:rPr lang="en-IN" sz="2400" dirty="0"/>
              <a:t> Notebook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FEF304F5-32C5-4869-B185-859B56785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0466" y="467385"/>
            <a:ext cx="5306291" cy="847817"/>
          </a:xfrm>
        </p:spPr>
        <p:txBody>
          <a:bodyPr>
            <a:normAutofit/>
          </a:bodyPr>
          <a:lstStyle/>
          <a:p>
            <a:r>
              <a:rPr lang="en-US" dirty="0"/>
              <a:t>Technology Used</a:t>
            </a:r>
          </a:p>
        </p:txBody>
      </p:sp>
    </p:spTree>
    <p:extLst>
      <p:ext uri="{BB962C8B-B14F-4D97-AF65-F5344CB8AC3E}">
        <p14:creationId xmlns:p14="http://schemas.microsoft.com/office/powerpoint/2010/main" val="1341901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p"/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8260" y="298262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372426BE-BEE7-4A6D-BCD2-059615BBCE25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E61E227A-5883-4C77-B25A-46A22FFDF41F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9" name="TextBox 36">
            <a:extLst>
              <a:ext uri="{FF2B5EF4-FFF2-40B4-BE49-F238E27FC236}">
                <a16:creationId xmlns:a16="http://schemas.microsoft.com/office/drawing/2014/main" id="{46EF9D0D-BB74-68B5-DF85-F1FEE841DABA}"/>
              </a:ext>
            </a:extLst>
          </p:cNvPr>
          <p:cNvSpPr txBox="1"/>
          <p:nvPr/>
        </p:nvSpPr>
        <p:spPr>
          <a:xfrm>
            <a:off x="801500" y="5357611"/>
            <a:ext cx="10588999" cy="754053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defRPr sz="1500" b="1">
                <a:solidFill>
                  <a:srgbClr val="232323"/>
                </a:solidFill>
                <a:latin typeface="Aptos"/>
              </a:defRPr>
            </a:pPr>
            <a:r>
              <a:rPr dirty="0"/>
              <a:t>Key finding</a:t>
            </a:r>
            <a:endParaRPr lang="en-US" dirty="0"/>
          </a:p>
          <a:p>
            <a:pPr algn="just">
              <a:defRPr sz="1500" b="1">
                <a:solidFill>
                  <a:srgbClr val="232323"/>
                </a:solidFill>
                <a:latin typeface="Aptos"/>
              </a:defRPr>
            </a:pPr>
            <a:r>
              <a:rPr lang="en-US" sz="1400" dirty="0">
                <a:solidFill>
                  <a:schemeClr val="bg2">
                    <a:lumMod val="50000"/>
                  </a:schemeClr>
                </a:solidFill>
              </a:rPr>
              <a:t>Kharif recorded the highest median yield at 1.94 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</a:rPr>
              <a:t>tonnes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</a:rPr>
              <a:t>/ha, while Zaid recorded the lowest at 1.46 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</a:rPr>
              <a:t>tonnes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</a:rPr>
              <a:t>/ha. Kharif also had the largest representation with 1,779 observations.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081F37B-37EE-5C0E-8E03-7A20E2E05E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982" y="1567594"/>
            <a:ext cx="4399896" cy="357371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E78AFDD1-28B9-5AB0-8C6F-7B0E6A72F0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7332" y="1473200"/>
            <a:ext cx="7106147" cy="3134745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1773DE0D-03A1-9F32-854C-E0A728A9DF4E}"/>
              </a:ext>
            </a:extLst>
          </p:cNvPr>
          <p:cNvSpPr txBox="1"/>
          <p:nvPr/>
        </p:nvSpPr>
        <p:spPr>
          <a:xfrm>
            <a:off x="3955224" y="542102"/>
            <a:ext cx="35305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-   Seasonal &amp; Crop Performance</a:t>
            </a:r>
          </a:p>
        </p:txBody>
      </p:sp>
    </p:spTree>
    <p:extLst>
      <p:ext uri="{BB962C8B-B14F-4D97-AF65-F5344CB8AC3E}">
        <p14:creationId xmlns:p14="http://schemas.microsoft.com/office/powerpoint/2010/main" val="1086225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9" grpId="0" animBg="1"/>
      <p:bldP spid="1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EAAE43-B138-25CD-D01F-41DB38855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FCF24DA-3CDC-4D87-9335-AB913C783F7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6D5AF756-BADB-9E87-14AC-F87A8C746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4716F3BA-AE41-9B35-3BCA-353F205375D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0E149068-B429-662F-714A-0DD8CE171A51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5196FC9-F0FB-ED45-AE9C-AD62FC491F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318" y="1608409"/>
            <a:ext cx="7639683" cy="3974219"/>
          </a:xfrm>
          <a:prstGeom prst="rect">
            <a:avLst/>
          </a:prstGeom>
        </p:spPr>
      </p:pic>
      <p:sp>
        <p:nvSpPr>
          <p:cNvPr id="12" name="TextBox 35">
            <a:extLst>
              <a:ext uri="{FF2B5EF4-FFF2-40B4-BE49-F238E27FC236}">
                <a16:creationId xmlns:a16="http://schemas.microsoft.com/office/drawing/2014/main" id="{7004D2FF-3A54-E7E1-D065-8F5422137F2A}"/>
              </a:ext>
            </a:extLst>
          </p:cNvPr>
          <p:cNvSpPr txBox="1"/>
          <p:nvPr/>
        </p:nvSpPr>
        <p:spPr>
          <a:xfrm>
            <a:off x="8329766" y="1774701"/>
            <a:ext cx="3063240" cy="1654299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defRPr sz="1250" b="0">
                <a:solidFill>
                  <a:srgbClr val="555555"/>
                </a:solidFill>
                <a:latin typeface="Aptos"/>
              </a:defRPr>
            </a:pPr>
            <a:r>
              <a:rPr lang="en-US" sz="1400" b="1" dirty="0"/>
              <a:t>What Stands Out?</a:t>
            </a:r>
          </a:p>
          <a:p>
            <a:pPr algn="just">
              <a:defRPr sz="1250" b="0">
                <a:solidFill>
                  <a:srgbClr val="555555"/>
                </a:solidFill>
                <a:latin typeface="Aptos"/>
              </a:defRPr>
            </a:pPr>
            <a:endParaRPr lang="en-US" dirty="0"/>
          </a:p>
          <a:p>
            <a:pPr algn="just">
              <a:defRPr sz="1250" b="0">
                <a:solidFill>
                  <a:srgbClr val="555555"/>
                </a:solidFill>
                <a:latin typeface="Aptos"/>
              </a:defRPr>
            </a:pPr>
            <a:r>
              <a:rPr dirty="0"/>
              <a:t>Kharif recorded the highest average rainfall at approximately 849.2 mm.</a:t>
            </a:r>
            <a:endParaRPr lang="en-US" dirty="0"/>
          </a:p>
          <a:p>
            <a:pPr algn="just">
              <a:defRPr sz="1250" b="0">
                <a:solidFill>
                  <a:srgbClr val="555555"/>
                </a:solidFill>
                <a:latin typeface="Aptos"/>
              </a:defRPr>
            </a:pPr>
            <a:br>
              <a:rPr dirty="0"/>
            </a:br>
            <a:r>
              <a:rPr dirty="0"/>
              <a:t>Seasonal differences were also visible in temperature, humidity, sunlight and soil moisture.</a:t>
            </a:r>
          </a:p>
        </p:txBody>
      </p:sp>
      <p:sp>
        <p:nvSpPr>
          <p:cNvPr id="14" name="TextBox 35">
            <a:extLst>
              <a:ext uri="{FF2B5EF4-FFF2-40B4-BE49-F238E27FC236}">
                <a16:creationId xmlns:a16="http://schemas.microsoft.com/office/drawing/2014/main" id="{5686073B-9851-0AE2-8849-64AAD09020C7}"/>
              </a:ext>
            </a:extLst>
          </p:cNvPr>
          <p:cNvSpPr txBox="1"/>
          <p:nvPr/>
        </p:nvSpPr>
        <p:spPr>
          <a:xfrm>
            <a:off x="8329766" y="3713771"/>
            <a:ext cx="3063240" cy="1292662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defRPr sz="1250" b="0">
                <a:solidFill>
                  <a:srgbClr val="555555"/>
                </a:solidFill>
                <a:latin typeface="Aptos"/>
              </a:defRPr>
            </a:pPr>
            <a:r>
              <a:rPr lang="en-US" sz="1400" b="1" dirty="0"/>
              <a:t>Take - away</a:t>
            </a:r>
          </a:p>
          <a:p>
            <a:pPr algn="just">
              <a:defRPr sz="1250" b="0">
                <a:solidFill>
                  <a:srgbClr val="555555"/>
                </a:solidFill>
                <a:latin typeface="Aptos"/>
              </a:defRPr>
            </a:pPr>
            <a:endParaRPr lang="en-US" sz="1400" b="1" dirty="0"/>
          </a:p>
          <a:p>
            <a:pPr>
              <a:defRPr sz="1250" b="0">
                <a:solidFill>
                  <a:srgbClr val="555555"/>
                </a:solidFill>
                <a:latin typeface="Aptos"/>
              </a:defRPr>
            </a:pPr>
            <a:r>
              <a:rPr lang="en-IN" sz="1250" dirty="0">
                <a:solidFill>
                  <a:srgbClr val="555555"/>
                </a:solidFill>
                <a:latin typeface="Aptos"/>
              </a:rPr>
              <a:t>Environmental conditions varied across seasons, showing why agricultural planning should consider seasonal conditions.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0DDD873-217D-63CB-4BA6-2B595006C393}"/>
              </a:ext>
            </a:extLst>
          </p:cNvPr>
          <p:cNvSpPr txBox="1"/>
          <p:nvPr/>
        </p:nvSpPr>
        <p:spPr>
          <a:xfrm>
            <a:off x="3616665" y="534451"/>
            <a:ext cx="42104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chemeClr val="tx1">
                    <a:lumMod val="65000"/>
                    <a:lumOff val="35000"/>
                  </a:schemeClr>
                </a:solidFill>
              </a:rPr>
              <a:t>—   Environmental &amp; Resource Patterns</a:t>
            </a:r>
          </a:p>
        </p:txBody>
      </p:sp>
    </p:spTree>
    <p:extLst>
      <p:ext uri="{BB962C8B-B14F-4D97-AF65-F5344CB8AC3E}">
        <p14:creationId xmlns:p14="http://schemas.microsoft.com/office/powerpoint/2010/main" val="3849627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2" grpId="0" animBg="1"/>
      <p:bldP spid="14" grpId="0" animBg="1"/>
      <p:bldP spid="1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F9E943-C59C-1D86-29CA-F786C47BA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EC6E6C7-69F2-D361-F3CC-FC5268D9BC8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DFCD5524-F764-DC63-6F54-D48057CF17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4B1E3463-DEAD-53DD-2AC0-E8A458421D0B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B713140B-3822-90E0-F216-B77A695B86B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81493B1-76AE-BA55-8615-615D22E3463A}"/>
              </a:ext>
            </a:extLst>
          </p:cNvPr>
          <p:cNvSpPr txBox="1"/>
          <p:nvPr/>
        </p:nvSpPr>
        <p:spPr>
          <a:xfrm>
            <a:off x="3624334" y="643212"/>
            <a:ext cx="33628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—      Yield, Profitability &amp; Risk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7C28AFF-41D1-9FCF-888A-17CDD650C5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053" y="1398532"/>
            <a:ext cx="7208987" cy="4658568"/>
          </a:xfrm>
          <a:prstGeom prst="rect">
            <a:avLst/>
          </a:prstGeom>
        </p:spPr>
      </p:pic>
      <p:sp>
        <p:nvSpPr>
          <p:cNvPr id="9" name="TextBox 35">
            <a:extLst>
              <a:ext uri="{FF2B5EF4-FFF2-40B4-BE49-F238E27FC236}">
                <a16:creationId xmlns:a16="http://schemas.microsoft.com/office/drawing/2014/main" id="{8BC82990-2C77-52C1-3F92-8D3B3A148449}"/>
              </a:ext>
            </a:extLst>
          </p:cNvPr>
          <p:cNvSpPr txBox="1"/>
          <p:nvPr/>
        </p:nvSpPr>
        <p:spPr>
          <a:xfrm>
            <a:off x="7793150" y="3632491"/>
            <a:ext cx="3494609" cy="1292662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defRPr sz="1250" b="0">
                <a:solidFill>
                  <a:srgbClr val="555555"/>
                </a:solidFill>
                <a:latin typeface="Aptos"/>
              </a:defRPr>
            </a:pPr>
            <a:r>
              <a:rPr lang="en-US" sz="1400" b="1" dirty="0"/>
              <a:t>Take – away</a:t>
            </a:r>
          </a:p>
          <a:p>
            <a:pPr algn="just">
              <a:defRPr sz="1250" b="0">
                <a:solidFill>
                  <a:srgbClr val="555555"/>
                </a:solidFill>
                <a:latin typeface="Aptos"/>
              </a:defRPr>
            </a:pPr>
            <a:endParaRPr lang="en-US" sz="1400" b="1" dirty="0"/>
          </a:p>
          <a:p>
            <a:pPr algn="just">
              <a:defRPr sz="1250" b="0">
                <a:solidFill>
                  <a:srgbClr val="555555"/>
                </a:solidFill>
                <a:latin typeface="Aptos"/>
              </a:defRPr>
            </a:pPr>
            <a:r>
              <a:rPr lang="en-IN" sz="1250" dirty="0">
                <a:solidFill>
                  <a:srgbClr val="555555"/>
                </a:solidFill>
                <a:latin typeface="Aptos"/>
              </a:rPr>
              <a:t>Yield improvement can contribute to profitability, but production outcomes are influenced by multiple factors rather than yield alone.</a:t>
            </a:r>
            <a:endParaRPr lang="en-US" sz="1400" b="1" dirty="0"/>
          </a:p>
        </p:txBody>
      </p:sp>
      <p:sp>
        <p:nvSpPr>
          <p:cNvPr id="11" name="TextBox 35">
            <a:extLst>
              <a:ext uri="{FF2B5EF4-FFF2-40B4-BE49-F238E27FC236}">
                <a16:creationId xmlns:a16="http://schemas.microsoft.com/office/drawing/2014/main" id="{2E25EE9A-BE45-E7E7-5CEE-2C0209513ED6}"/>
              </a:ext>
            </a:extLst>
          </p:cNvPr>
          <p:cNvSpPr txBox="1"/>
          <p:nvPr/>
        </p:nvSpPr>
        <p:spPr>
          <a:xfrm>
            <a:off x="7793150" y="2043928"/>
            <a:ext cx="3494609" cy="1100301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defRPr sz="1250" b="0">
                <a:solidFill>
                  <a:srgbClr val="555555"/>
                </a:solidFill>
                <a:latin typeface="Aptos"/>
              </a:defRPr>
            </a:pPr>
            <a:r>
              <a:rPr lang="en-US" sz="1400" b="1" dirty="0"/>
              <a:t>Key Finding</a:t>
            </a:r>
          </a:p>
          <a:p>
            <a:pPr algn="just">
              <a:defRPr sz="1250" b="0">
                <a:solidFill>
                  <a:srgbClr val="555555"/>
                </a:solidFill>
                <a:latin typeface="Aptos"/>
              </a:defRPr>
            </a:pPr>
            <a:endParaRPr lang="en-US" sz="1400" b="1" dirty="0"/>
          </a:p>
          <a:p>
            <a:pPr algn="just">
              <a:defRPr sz="1250" b="0">
                <a:solidFill>
                  <a:srgbClr val="555555"/>
                </a:solidFill>
                <a:latin typeface="Aptos"/>
              </a:defRPr>
            </a:pPr>
            <a:r>
              <a:rPr lang="en-IN" sz="1250" dirty="0">
                <a:solidFill>
                  <a:srgbClr val="555555"/>
                </a:solidFill>
                <a:latin typeface="Aptos"/>
              </a:rPr>
              <a:t>Higher yield generally corresponded with higher profit, although the relationship varied across seasons and disease/pest risk levels.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8901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2" grpId="0"/>
      <p:bldP spid="9" grpId="0" animBg="1"/>
      <p:bldP spid="1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05AC1B-54F8-474D-6B86-CF23FDF34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9D7CE81-8696-30A4-F33E-B4B569D3502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15FD49EE-0956-AAE3-737B-15F7D4267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D224F8B1-34DD-5A54-7F70-25EBA532E6E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25A36120-3EFF-6A69-8D23-42BFD883ADDA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A10BAA9-2CA1-CB55-4CC6-E7FF074A29CE}"/>
              </a:ext>
            </a:extLst>
          </p:cNvPr>
          <p:cNvSpPr txBox="1"/>
          <p:nvPr/>
        </p:nvSpPr>
        <p:spPr>
          <a:xfrm>
            <a:off x="3514981" y="601421"/>
            <a:ext cx="34103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–     Profitability Across Seasons</a:t>
            </a:r>
          </a:p>
        </p:txBody>
      </p:sp>
      <p:sp>
        <p:nvSpPr>
          <p:cNvPr id="9" name="TextBox 35">
            <a:extLst>
              <a:ext uri="{FF2B5EF4-FFF2-40B4-BE49-F238E27FC236}">
                <a16:creationId xmlns:a16="http://schemas.microsoft.com/office/drawing/2014/main" id="{EE18D521-4BAD-012F-C876-D087F353578F}"/>
              </a:ext>
            </a:extLst>
          </p:cNvPr>
          <p:cNvSpPr txBox="1"/>
          <p:nvPr/>
        </p:nvSpPr>
        <p:spPr>
          <a:xfrm>
            <a:off x="7793149" y="1941449"/>
            <a:ext cx="3494609" cy="1100301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defRPr sz="1250" b="0">
                <a:solidFill>
                  <a:srgbClr val="555555"/>
                </a:solidFill>
                <a:latin typeface="Aptos"/>
              </a:defRPr>
            </a:pPr>
            <a:r>
              <a:rPr lang="en-US" sz="1400" b="1" dirty="0"/>
              <a:t>Key Finding</a:t>
            </a:r>
          </a:p>
          <a:p>
            <a:pPr algn="just">
              <a:defRPr sz="1250" b="0">
                <a:solidFill>
                  <a:srgbClr val="555555"/>
                </a:solidFill>
                <a:latin typeface="Aptos"/>
              </a:defRPr>
            </a:pPr>
            <a:endParaRPr lang="en-US" sz="1400" b="1" dirty="0"/>
          </a:p>
          <a:p>
            <a:pPr algn="just">
              <a:defRPr sz="1250" b="0">
                <a:solidFill>
                  <a:srgbClr val="555555"/>
                </a:solidFill>
                <a:latin typeface="Aptos"/>
              </a:defRPr>
            </a:pPr>
            <a:r>
              <a:rPr lang="en-IN" sz="1250" dirty="0">
                <a:solidFill>
                  <a:srgbClr val="555555"/>
                </a:solidFill>
                <a:latin typeface="Aptos"/>
              </a:rPr>
              <a:t>Profitability varied considerably across seasons. Kharif showed the highest median profit, while Zaid recorded the lowest median profit.</a:t>
            </a:r>
            <a:endParaRPr lang="en-US" dirty="0"/>
          </a:p>
        </p:txBody>
      </p:sp>
      <p:sp>
        <p:nvSpPr>
          <p:cNvPr id="11" name="TextBox 35">
            <a:extLst>
              <a:ext uri="{FF2B5EF4-FFF2-40B4-BE49-F238E27FC236}">
                <a16:creationId xmlns:a16="http://schemas.microsoft.com/office/drawing/2014/main" id="{3ACB25FD-E3B2-4F61-ABF4-F06E3F1C996D}"/>
              </a:ext>
            </a:extLst>
          </p:cNvPr>
          <p:cNvSpPr txBox="1"/>
          <p:nvPr/>
        </p:nvSpPr>
        <p:spPr>
          <a:xfrm>
            <a:off x="7793149" y="3466821"/>
            <a:ext cx="3494609" cy="1292662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defRPr sz="1250" b="0">
                <a:solidFill>
                  <a:srgbClr val="555555"/>
                </a:solidFill>
                <a:latin typeface="Aptos"/>
              </a:defRPr>
            </a:pPr>
            <a:r>
              <a:rPr lang="en-US" sz="1400" b="1" dirty="0"/>
              <a:t>Take – away</a:t>
            </a:r>
          </a:p>
          <a:p>
            <a:pPr algn="just">
              <a:defRPr sz="1250" b="0">
                <a:solidFill>
                  <a:srgbClr val="555555"/>
                </a:solidFill>
                <a:latin typeface="Aptos"/>
              </a:defRPr>
            </a:pPr>
            <a:endParaRPr lang="en-US" sz="1400" b="1" dirty="0"/>
          </a:p>
          <a:p>
            <a:pPr algn="just">
              <a:defRPr sz="1250" b="0">
                <a:solidFill>
                  <a:srgbClr val="555555"/>
                </a:solidFill>
                <a:latin typeface="Aptos"/>
              </a:defRPr>
            </a:pPr>
            <a:r>
              <a:rPr lang="en-IN" sz="1250" dirty="0">
                <a:solidFill>
                  <a:srgbClr val="555555"/>
                </a:solidFill>
                <a:latin typeface="Aptos"/>
              </a:rPr>
              <a:t>Seasonal performance should be evaluated using profitability along with yield, since higher production does not necessarily mean higher profit.</a:t>
            </a:r>
            <a:endParaRPr lang="en-US" sz="1400" b="1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17F8162-6254-E5EF-9315-7D23ADDDEB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467" y="1560049"/>
            <a:ext cx="7051303" cy="3813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3979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2" grpId="0"/>
      <p:bldP spid="9" grpId="0" animBg="1"/>
      <p:bldP spid="1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030C45-6A74-29AD-A5C0-D5F36592DB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E7611FF-D6E5-400F-ED75-6F5531CFA95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9E35150-35BD-1B1F-9A8C-890DBFDF3B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5A2A9BCE-A757-223C-2A3D-44341FB27A6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1EED58A7-2CD5-1355-8D1D-DD62A1ED8CB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E032076-D6D0-36BB-C0FA-EDC000E0AD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982" y="1201587"/>
            <a:ext cx="6001043" cy="4216878"/>
          </a:xfrm>
          <a:prstGeom prst="rect">
            <a:avLst/>
          </a:prstGeom>
          <a:solidFill>
            <a:srgbClr val="D9D9D9"/>
          </a:solidFill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9FF4632-62D3-EDA3-DF44-D66CA27157A7}"/>
              </a:ext>
            </a:extLst>
          </p:cNvPr>
          <p:cNvSpPr txBox="1"/>
          <p:nvPr/>
        </p:nvSpPr>
        <p:spPr>
          <a:xfrm>
            <a:off x="3454400" y="581444"/>
            <a:ext cx="40543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—   Correlation &amp; Statistical Evidence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D2D7D6D-E69A-2D40-9EDF-C663CDC8AB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4946" y="2372766"/>
            <a:ext cx="5316071" cy="1704023"/>
          </a:xfrm>
          <a:prstGeom prst="rect">
            <a:avLst/>
          </a:prstGeom>
          <a:solidFill>
            <a:srgbClr val="D9D9D9"/>
          </a:solidFill>
          <a:ln>
            <a:solidFill>
              <a:schemeClr val="bg1"/>
            </a:solidFill>
          </a:ln>
        </p:spPr>
      </p:pic>
      <p:sp>
        <p:nvSpPr>
          <p:cNvPr id="14" name="TextBox 36">
            <a:extLst>
              <a:ext uri="{FF2B5EF4-FFF2-40B4-BE49-F238E27FC236}">
                <a16:creationId xmlns:a16="http://schemas.microsoft.com/office/drawing/2014/main" id="{89613423-5D85-A831-BB85-4FA304AE16FD}"/>
              </a:ext>
            </a:extLst>
          </p:cNvPr>
          <p:cNvSpPr txBox="1"/>
          <p:nvPr/>
        </p:nvSpPr>
        <p:spPr>
          <a:xfrm>
            <a:off x="6711552" y="4838830"/>
            <a:ext cx="5002858" cy="1487597"/>
          </a:xfrm>
          <a:prstGeom prst="snip2Diag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500" b="1">
                <a:solidFill>
                  <a:srgbClr val="232323"/>
                </a:solidFill>
                <a:latin typeface="Aptos"/>
              </a:defRPr>
            </a:pPr>
            <a:r>
              <a:rPr lang="en-IN" sz="1500" dirty="0">
                <a:solidFill>
                  <a:srgbClr val="232323"/>
                </a:solidFill>
                <a:latin typeface="Aptos"/>
              </a:rPr>
              <a:t>Take-away:  </a:t>
            </a:r>
          </a:p>
          <a:p>
            <a:pPr>
              <a:defRPr sz="1500" b="1">
                <a:solidFill>
                  <a:srgbClr val="232323"/>
                </a:solidFill>
                <a:latin typeface="Aptos"/>
              </a:defRPr>
            </a:pPr>
            <a:r>
              <a:rPr lang="en-IN" sz="1500" dirty="0">
                <a:solidFill>
                  <a:schemeClr val="tx1">
                    <a:lumMod val="65000"/>
                    <a:lumOff val="35000"/>
                  </a:schemeClr>
                </a:solidFill>
                <a:latin typeface="Aptos"/>
              </a:rPr>
              <a:t>The analysis shows that seasonal differences are statistically meaningful, while relationships between variables provide additional insight into agricultural performance.</a:t>
            </a:r>
            <a:endParaRPr 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5" name="TextBox 36">
            <a:extLst>
              <a:ext uri="{FF2B5EF4-FFF2-40B4-BE49-F238E27FC236}">
                <a16:creationId xmlns:a16="http://schemas.microsoft.com/office/drawing/2014/main" id="{4D62BC65-A6FA-E54B-7766-6577400D462D}"/>
              </a:ext>
            </a:extLst>
          </p:cNvPr>
          <p:cNvSpPr txBox="1"/>
          <p:nvPr/>
        </p:nvSpPr>
        <p:spPr>
          <a:xfrm>
            <a:off x="701476" y="5418465"/>
            <a:ext cx="5002859" cy="784830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defRPr sz="1500" b="1">
                <a:solidFill>
                  <a:srgbClr val="232323"/>
                </a:solidFill>
                <a:latin typeface="Aptos"/>
              </a:defRPr>
            </a:pPr>
            <a:r>
              <a:rPr lang="en-IN" sz="1500" b="1" dirty="0">
                <a:solidFill>
                  <a:srgbClr val="232323"/>
                </a:solidFill>
                <a:latin typeface="Aptos"/>
              </a:rPr>
              <a:t>Correlation Finding : Profit had the strongest absolute Spearman association with Yield (ρ = 0.49), indicating a moderate positive relationship.</a:t>
            </a:r>
            <a:endParaRPr 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6" name="TextBox 36">
            <a:extLst>
              <a:ext uri="{FF2B5EF4-FFF2-40B4-BE49-F238E27FC236}">
                <a16:creationId xmlns:a16="http://schemas.microsoft.com/office/drawing/2014/main" id="{5C3F3DDF-803C-44DA-48BC-657EA56A82D2}"/>
              </a:ext>
            </a:extLst>
          </p:cNvPr>
          <p:cNvSpPr txBox="1"/>
          <p:nvPr/>
        </p:nvSpPr>
        <p:spPr>
          <a:xfrm>
            <a:off x="6554947" y="1411010"/>
            <a:ext cx="5316071" cy="784830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defRPr sz="1500" b="1">
                <a:solidFill>
                  <a:srgbClr val="232323"/>
                </a:solidFill>
                <a:latin typeface="Aptos"/>
              </a:defRPr>
            </a:pPr>
            <a:r>
              <a:rPr lang="en-IN" sz="1500" b="1" dirty="0">
                <a:solidFill>
                  <a:srgbClr val="232323"/>
                </a:solidFill>
                <a:latin typeface="Aptos"/>
              </a:rPr>
              <a:t>Statistical Finding : Yield, Production, Profit and Disease/Pest Risk showed significant seasonal differences at the 5% level.</a:t>
            </a:r>
            <a:endParaRPr 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21522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6" grpId="0"/>
      <p:bldP spid="14" grpId="0" animBg="1"/>
      <p:bldP spid="15" grpId="0" animBg="1"/>
      <p:bldP spid="1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6E94ED-1743-306E-1CA1-9410A2B50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4506C61-5206-F1DF-9994-DED24DFB1C6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B097C2C-D75A-31D4-CD9F-366F39CDE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4735798" cy="830997"/>
          </a:xfrm>
        </p:spPr>
        <p:txBody>
          <a:bodyPr>
            <a:normAutofit/>
          </a:bodyPr>
          <a:lstStyle/>
          <a:p>
            <a:r>
              <a:rPr lang="en-IN" sz="4000" dirty="0"/>
              <a:t>Future scope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B7444DDE-63A3-9721-77CC-C93FED110DAF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2C8A8B73-0C64-E012-F561-D7FE5E322230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6B6499F-7ED2-BE04-125F-3284ED6A3C55}"/>
              </a:ext>
            </a:extLst>
          </p:cNvPr>
          <p:cNvSpPr txBox="1"/>
          <p:nvPr/>
        </p:nvSpPr>
        <p:spPr>
          <a:xfrm>
            <a:off x="675957" y="1411223"/>
            <a:ext cx="9410435" cy="4801314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The current analysis provides a foundation for a broader agricultural </a:t>
            </a:r>
            <a:r>
              <a:rPr lang="en-IN" dirty="0"/>
              <a:t>The current analysis provides a foundation for developing a more comprehensive agricultural decision-support system.</a:t>
            </a:r>
          </a:p>
          <a:p>
            <a:endParaRPr lang="en-IN" dirty="0"/>
          </a:p>
          <a:p>
            <a:r>
              <a:rPr lang="en-IN" b="1" dirty="0"/>
              <a:t>1. Predictive Analysis</a:t>
            </a:r>
          </a:p>
          <a:p>
            <a:r>
              <a:rPr lang="en-IN" dirty="0"/>
              <a:t>Predict future yield and profitability using historical data.</a:t>
            </a:r>
          </a:p>
          <a:p>
            <a:r>
              <a:rPr lang="en-IN" b="1" dirty="0"/>
              <a:t>2. Real-Time Weather Data</a:t>
            </a:r>
          </a:p>
          <a:p>
            <a:r>
              <a:rPr lang="en-IN" dirty="0"/>
              <a:t>Incorporate live rainfall, temperature and weather information.</a:t>
            </a:r>
          </a:p>
          <a:p>
            <a:r>
              <a:rPr lang="en-IN" b="1" dirty="0"/>
              <a:t>3. Regional Analysis</a:t>
            </a:r>
          </a:p>
          <a:p>
            <a:r>
              <a:rPr lang="en-IN" dirty="0"/>
              <a:t>Extend the analysis to district/state-level agricultural patterns.</a:t>
            </a:r>
          </a:p>
          <a:p>
            <a:r>
              <a:rPr lang="en-IN" b="1" dirty="0"/>
              <a:t>4. Crop Recommendation</a:t>
            </a:r>
          </a:p>
          <a:p>
            <a:r>
              <a:rPr lang="en-IN" dirty="0"/>
              <a:t>Develop models that recommend suitable crops based on seasonal and environmental conditions.</a:t>
            </a:r>
          </a:p>
          <a:p>
            <a:endParaRPr lang="en-IN" b="1" dirty="0"/>
          </a:p>
          <a:p>
            <a:r>
              <a:rPr lang="en-IN" b="1" dirty="0"/>
              <a:t>Future work can combine historical agricultural data, real-time weather and market information to make the analysis more actionable.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76828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2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7316CE-193E-3D5D-C15A-98517303A1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D44118A-0276-9E2F-E0E8-85CEE9F1E0C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01A2257-2F98-CB88-038E-C0F1D0A1A3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4735798" cy="830997"/>
          </a:xfrm>
        </p:spPr>
        <p:txBody>
          <a:bodyPr>
            <a:normAutofit/>
          </a:bodyPr>
          <a:lstStyle/>
          <a:p>
            <a:r>
              <a:rPr lang="en-IN" sz="4000" dirty="0"/>
              <a:t>GitHub Link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AF1C8809-654A-4DD1-BB18-87B8B6C020B9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0F7D0B46-DEEA-1B5E-FE84-59D11F3B110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2FAAC9A-3AC7-773C-E1C2-87C05B12ABBD}"/>
              </a:ext>
            </a:extLst>
          </p:cNvPr>
          <p:cNvSpPr txBox="1"/>
          <p:nvPr/>
        </p:nvSpPr>
        <p:spPr>
          <a:xfrm>
            <a:off x="675957" y="2833227"/>
            <a:ext cx="9214492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accent2">
                    <a:lumMod val="75000"/>
                  </a:schemeClr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https://github.com/AradhyaGuha/Seasonal-Agriculture-Performance-Analysis.git</a:t>
            </a:r>
            <a:endParaRPr lang="en-IN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0E0EBAA-58BC-62BF-0949-36BF4B9B0BB6}"/>
              </a:ext>
            </a:extLst>
          </p:cNvPr>
          <p:cNvSpPr txBox="1"/>
          <p:nvPr/>
        </p:nvSpPr>
        <p:spPr>
          <a:xfrm>
            <a:off x="675957" y="2282268"/>
            <a:ext cx="22063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GitHub Repository :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63610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2" grpId="0" animBg="1"/>
      <p:bldP spid="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866297-EA5A-44FA-6968-26D32B9B1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B12FC48-BC6E-8635-A49E-73EF17CEDC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42B692F6-18B4-BC16-EA0C-48FFBD5621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8458" y="390713"/>
            <a:ext cx="8351388" cy="884658"/>
          </a:xfrm>
        </p:spPr>
        <p:txBody>
          <a:bodyPr>
            <a:normAutofit fontScale="90000"/>
          </a:bodyPr>
          <a:lstStyle/>
          <a:p>
            <a:pPr algn="ctr"/>
            <a:r>
              <a:rPr lang="en-IN" sz="3200" dirty="0"/>
              <a:t>VOIS Course Completion Certificate  </a:t>
            </a:r>
            <a:br>
              <a:rPr lang="en-IN" sz="3200" dirty="0"/>
            </a:br>
            <a:r>
              <a:rPr lang="en-IN" sz="3200" dirty="0"/>
              <a:t>Course name - Data Visualization 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069BD300-7A70-B076-3B4C-43081E893162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8C1854F2-9914-C22F-FF0B-693CD1D0F966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B1EB0C6-F846-2FB3-D1A4-0720B03359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2958" y="1420702"/>
            <a:ext cx="7282388" cy="5147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2802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88C20CF-C1EE-4092-B52D-FD4AB2AB25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7560" y="702532"/>
            <a:ext cx="11340000" cy="700114"/>
          </a:xfrm>
          <a:prstGeom prst="rect">
            <a:avLst/>
          </a:prstGeom>
        </p:spPr>
        <p:txBody>
          <a:bodyPr anchor="ctr">
            <a:normAutofit fontScale="90000"/>
          </a:bodyPr>
          <a:lstStyle/>
          <a:p>
            <a:pPr algn="ctr"/>
            <a:r>
              <a:rPr lang="en-US" sz="4800" b="1" dirty="0">
                <a:solidFill>
                  <a:schemeClr val="tx1"/>
                </a:solidFill>
              </a:rPr>
              <a:t>Thank You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97AB1F14-3A1E-4057-A473-9975BA59F01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27865" y="4641925"/>
            <a:ext cx="2139695" cy="1108635"/>
          </a:xfrm>
        </p:spPr>
        <p:txBody>
          <a:bodyPr>
            <a:normAutofit/>
          </a:bodyPr>
          <a:lstStyle/>
          <a:p>
            <a:r>
              <a:rPr lang="en-US" dirty="0"/>
              <a:t>.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E212CE24-374D-44D0-8F39-0F5A36E42ED7}"/>
              </a:ext>
            </a:extLst>
          </p:cNvPr>
          <p:cNvSpPr txBox="1">
            <a:spLocks/>
          </p:cNvSpPr>
          <p:nvPr/>
        </p:nvSpPr>
        <p:spPr>
          <a:xfrm>
            <a:off x="878337" y="4134780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400" dirty="0"/>
          </a:p>
        </p:txBody>
      </p:sp>
      <p:sp>
        <p:nvSpPr>
          <p:cNvPr id="20" name="Text Placeholder 28">
            <a:extLst>
              <a:ext uri="{FF2B5EF4-FFF2-40B4-BE49-F238E27FC236}">
                <a16:creationId xmlns:a16="http://schemas.microsoft.com/office/drawing/2014/main" id="{A09A5BC1-0E62-4E6B-A590-951A87D4B4FE}"/>
              </a:ext>
            </a:extLst>
          </p:cNvPr>
          <p:cNvSpPr txBox="1">
            <a:spLocks/>
          </p:cNvSpPr>
          <p:nvPr/>
        </p:nvSpPr>
        <p:spPr>
          <a:xfrm>
            <a:off x="5353508" y="3962573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23" name="Text Placeholder 28">
            <a:extLst>
              <a:ext uri="{FF2B5EF4-FFF2-40B4-BE49-F238E27FC236}">
                <a16:creationId xmlns:a16="http://schemas.microsoft.com/office/drawing/2014/main" id="{9E6B148F-F3B6-4E6B-9B85-645C039858E8}"/>
              </a:ext>
            </a:extLst>
          </p:cNvPr>
          <p:cNvSpPr txBox="1">
            <a:spLocks/>
          </p:cNvSpPr>
          <p:nvPr/>
        </p:nvSpPr>
        <p:spPr>
          <a:xfrm>
            <a:off x="7789163" y="3962572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D3BF02F6-2753-476A-8046-A85AE3A49748}"/>
              </a:ext>
            </a:extLst>
          </p:cNvPr>
          <p:cNvSpPr txBox="1">
            <a:spLocks/>
          </p:cNvSpPr>
          <p:nvPr/>
        </p:nvSpPr>
        <p:spPr>
          <a:xfrm>
            <a:off x="6096000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B993AB29-3A3A-4473-8AC8-86E859C97321}"/>
              </a:ext>
            </a:extLst>
          </p:cNvPr>
          <p:cNvSpPr txBox="1">
            <a:spLocks/>
          </p:cNvSpPr>
          <p:nvPr/>
        </p:nvSpPr>
        <p:spPr>
          <a:xfrm>
            <a:off x="8591363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D3F9E86-2FB3-4DB3-9343-59D594F350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C277FD7-925B-4C3D-A364-11840320150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434513" y="2216075"/>
            <a:ext cx="6866094" cy="3013845"/>
          </a:xfrm>
          <a:ln>
            <a:solidFill>
              <a:schemeClr val="accent1"/>
            </a:solidFill>
          </a:ln>
        </p:spPr>
        <p:txBody>
          <a:bodyPr>
            <a:noAutofit/>
          </a:bodyPr>
          <a:lstStyle/>
          <a:p>
            <a:r>
              <a:rPr lang="en-US" sz="2400" dirty="0"/>
              <a:t>Seasonal Agricultural Performance Analysis</a:t>
            </a:r>
          </a:p>
          <a:p>
            <a:endParaRPr lang="en-US" sz="2400" dirty="0"/>
          </a:p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Turning agricultural data into meaningful seasonal insights.</a:t>
            </a:r>
          </a:p>
          <a:p>
            <a:endParaRPr 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Presented By</a:t>
            </a:r>
          </a:p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Aradhya Guha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01748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2" grpId="0" uiExpand="1" build="p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DEA9014-ED64-4558-B1E1-D03F0EE32BEB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05D99ABA-76CE-4A8E-B5F0-C051B96628D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19EB750-A6DA-4BE8-B87B-FC499FE733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834</TotalTime>
  <Words>675</Words>
  <Application>Microsoft Office PowerPoint</Application>
  <PresentationFormat>Widescreen</PresentationFormat>
  <Paragraphs>95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Aptos</vt:lpstr>
      <vt:lpstr>Arial</vt:lpstr>
      <vt:lpstr>Calibri</vt:lpstr>
      <vt:lpstr>Trebuchet MS</vt:lpstr>
      <vt:lpstr>Wingdings</vt:lpstr>
      <vt:lpstr>Wingdings 3</vt:lpstr>
      <vt:lpstr>Facet</vt:lpstr>
      <vt:lpstr>Seasonal Agricultural Performance Analysis</vt:lpstr>
      <vt:lpstr>PROBLEM  STATEMENT</vt:lpstr>
      <vt:lpstr>Project Description  </vt:lpstr>
      <vt:lpstr>WHO ARE THE END USERS?</vt:lpstr>
      <vt:lpstr>Technology Used</vt:lpstr>
      <vt:lpstr>RESULTS </vt:lpstr>
      <vt:lpstr>RESULTS </vt:lpstr>
      <vt:lpstr>RESULTS </vt:lpstr>
      <vt:lpstr>RESULTS </vt:lpstr>
      <vt:lpstr>RESULTS </vt:lpstr>
      <vt:lpstr>Future scope</vt:lpstr>
      <vt:lpstr>GitHub Link</vt:lpstr>
      <vt:lpstr>VOIS Course Completion Certificate   Course name - Data Visualization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MASKED HUNTERS</dc:title>
  <dc:creator>Venkataswamy</dc:creator>
  <cp:lastModifiedBy>Aradhya Guha</cp:lastModifiedBy>
  <cp:revision>98</cp:revision>
  <dcterms:created xsi:type="dcterms:W3CDTF">2021-07-11T13:13:15Z</dcterms:created>
  <dcterms:modified xsi:type="dcterms:W3CDTF">2026-09-05T10:39:01Z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